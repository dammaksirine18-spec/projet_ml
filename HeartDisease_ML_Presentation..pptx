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Default Extension="xlsx" ContentType="application/vnd.openxmlformats-officedocument.spreadsheetml.sheet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-490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Microsoft_Office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Microsoft_Office_Excel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Microsoft_Office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fr-FR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65C0"/>
                </a:solidFill>
                <a:latin typeface="Arial"/>
              </a:defRPr>
            </a:pPr>
            <a:r>
              <a:rPr lang="fr-FR" sz="1300" b="0" i="0" u="none" strike="noStrike">
                <a:solidFill>
                  <a:srgbClr val="1565C0"/>
                </a:solidFill>
                <a:latin typeface="Arial"/>
              </a:rPr>
              <a:t>ROC-AUC par Modèle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E7D32"/>
            </a:solidFill>
            <a:effectLst/>
          </c:spPr>
          <c:dPt>
            <c:idx val="0"/>
          </c:dPt>
          <c:dPt>
            <c:idx val="1"/>
            <c:spPr>
              <a:solidFill>
                <a:srgbClr val="6A1B9A"/>
              </a:solidFill>
              <a:effectLst/>
            </c:spPr>
          </c:dPt>
          <c:dPt>
            <c:idx val="2"/>
            <c:spPr>
              <a:solidFill>
                <a:srgbClr val="1565C0"/>
              </a:solidFill>
              <a:effectLst/>
            </c:spPr>
          </c:dPt>
          <c:dPt>
            <c:idx val="3"/>
            <c:spPr>
              <a:solidFill>
                <a:srgbClr val="E65100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Val val="1"/>
          </c:dLbls>
          <c:cat>
            <c:strRef>
              <c:f>Sheet1!$A$2:$A$5</c:f>
              <c:strCache>
                <c:ptCount val="4"/>
                <c:pt idx="0">
                  <c:v>Random Forest</c:v>
                </c:pt>
                <c:pt idx="1">
                  <c:v>MLP Classifier</c:v>
                </c:pt>
                <c:pt idx="2">
                  <c:v>Logistic Reg.</c:v>
                </c:pt>
                <c:pt idx="3">
                  <c:v>SVM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0.79800000000000004</c:v>
                </c:pt>
                <c:pt idx="1">
                  <c:v>0.50049999999999994</c:v>
                </c:pt>
                <c:pt idx="2">
                  <c:v>0.49870000000000003</c:v>
                </c:pt>
                <c:pt idx="3">
                  <c:v>0.49730000000000008</c:v>
                </c:pt>
              </c:numCache>
            </c:numRef>
          </c:val>
        </c:ser>
        <c:dLbls>
          <c:showVal val="1"/>
        </c:dLbls>
        <c:axId val="118732672"/>
        <c:axId val="118734208"/>
      </c:barChart>
      <c:catAx>
        <c:axId val="11873267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fr-FR"/>
          </a:p>
        </c:txPr>
        <c:crossAx val="118734208"/>
        <c:crosses val="autoZero"/>
        <c:auto val="1"/>
        <c:lblAlgn val="ctr"/>
        <c:lblOffset val="100"/>
        <c:noMultiLvlLbl val="1"/>
      </c:catAx>
      <c:valAx>
        <c:axId val="118734208"/>
        <c:scaling>
          <c:orientation val="minMax"/>
          <c:max val="1"/>
          <c:min val="0.4"/>
        </c:scaling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fr-FR"/>
          </a:p>
        </c:txPr>
        <c:crossAx val="118732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9FA"/>
    </a:solidFill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fr-FR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E7D32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2E7D32"/>
                </a:solidFill>
                <a:latin typeface="Arial"/>
              </a:rPr>
              <a:t>Top 10 Features (Importance)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B5E20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Val val="1"/>
          </c:dLbls>
          <c:cat>
            <c:strRef>
              <c:f>Sheet1!$A$2:$A$11</c:f>
              <c:strCache>
                <c:ptCount val="10"/>
                <c:pt idx="0">
                  <c:v>cardiac_risk_score</c:v>
                </c:pt>
                <c:pt idx="1">
                  <c:v>metabolic_syndrome_score</c:v>
                </c:pt>
                <c:pt idx="2">
                  <c:v>cardiovascular_index</c:v>
                </c:pt>
                <c:pt idx="3">
                  <c:v>age_squared</c:v>
                </c:pt>
                <c:pt idx="4">
                  <c:v>bmi_sq</c:v>
                </c:pt>
                <c:pt idx="5">
                  <c:v>cholesterol_ratio</c:v>
                </c:pt>
                <c:pt idx="6">
                  <c:v>ldl_hdl_ratio</c:v>
                </c:pt>
                <c:pt idx="7">
                  <c:v>pulse_pressure</c:v>
                </c:pt>
                <c:pt idx="8">
                  <c:v>glucose_insulin_ratio</c:v>
                </c:pt>
                <c:pt idx="9">
                  <c:v>lifestyle_score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0.16200000000000001</c:v>
                </c:pt>
                <c:pt idx="1">
                  <c:v>0.14300000000000002</c:v>
                </c:pt>
                <c:pt idx="2">
                  <c:v>0.11800000000000001</c:v>
                </c:pt>
                <c:pt idx="3">
                  <c:v>8.7000000000000022E-2</c:v>
                </c:pt>
                <c:pt idx="4">
                  <c:v>7.1000000000000008E-2</c:v>
                </c:pt>
                <c:pt idx="5">
                  <c:v>6.5000000000000002E-2</c:v>
                </c:pt>
                <c:pt idx="6">
                  <c:v>5.8000000000000003E-2</c:v>
                </c:pt>
                <c:pt idx="7">
                  <c:v>5.2000000000000005E-2</c:v>
                </c:pt>
                <c:pt idx="8">
                  <c:v>4.4000000000000011E-2</c:v>
                </c:pt>
                <c:pt idx="9">
                  <c:v>3.8000000000000006E-2</c:v>
                </c:pt>
              </c:numCache>
            </c:numRef>
          </c:val>
        </c:ser>
        <c:dLbls>
          <c:showVal val="1"/>
        </c:dLbls>
        <c:axId val="119631872"/>
        <c:axId val="119633408"/>
      </c:barChart>
      <c:catAx>
        <c:axId val="119631872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46E7A"/>
                </a:solidFill>
                <a:latin typeface="Arial"/>
              </a:defRPr>
            </a:pPr>
            <a:endParaRPr lang="fr-FR"/>
          </a:p>
        </c:txPr>
        <c:crossAx val="119633408"/>
        <c:crosses val="autoZero"/>
        <c:auto val="1"/>
        <c:lblAlgn val="ctr"/>
        <c:lblOffset val="100"/>
        <c:noMultiLvlLbl val="1"/>
      </c:catAx>
      <c:valAx>
        <c:axId val="119633408"/>
        <c:scaling>
          <c:orientation val="minMax"/>
        </c:scaling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fr-FR"/>
          </a:p>
        </c:txPr>
        <c:crossAx val="119631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9FA"/>
    </a:solidFill>
    <a:ln>
      <a:noFill/>
    </a:ln>
    <a:effectLst/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fr-FR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90CAF9"/>
                </a:solidFill>
                <a:latin typeface="Arial"/>
              </a:defRPr>
            </a:pPr>
            <a:r>
              <a:rPr lang="fr-FR" sz="1300" b="0" i="0" u="none" strike="noStrike">
                <a:solidFill>
                  <a:srgbClr val="90CAF9"/>
                </a:solidFill>
                <a:latin typeface="Arial"/>
              </a:rPr>
              <a:t>Comparaison des Métriques par Modèle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E7D32"/>
            </a:solidFill>
            <a:effectLst/>
          </c:spPr>
          <c:cat>
            <c:strRef>
              <c:f>Sheet1!$A$2:$A$5</c:f>
              <c:strCache>
                <c:ptCount val="4"/>
                <c:pt idx="0">
                  <c:v>Random Forest</c:v>
                </c:pt>
                <c:pt idx="1">
                  <c:v>MLP Classifier</c:v>
                </c:pt>
                <c:pt idx="2">
                  <c:v>Logistic Reg.</c:v>
                </c:pt>
                <c:pt idx="3">
                  <c:v>SVM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0.71550000000000002</c:v>
                </c:pt>
                <c:pt idx="1">
                  <c:v>0.48350000000000004</c:v>
                </c:pt>
                <c:pt idx="2">
                  <c:v>0.51800000000000002</c:v>
                </c:pt>
                <c:pt idx="3">
                  <c:v>0.51800000000000002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565C0"/>
            </a:solidFill>
            <a:effectLst/>
          </c:spPr>
          <c:cat>
            <c:strRef>
              <c:f>Sheet1!$A$2:$A$5</c:f>
              <c:strCache>
                <c:ptCount val="4"/>
                <c:pt idx="0">
                  <c:v>Random Forest</c:v>
                </c:pt>
                <c:pt idx="1">
                  <c:v>MLP Classifier</c:v>
                </c:pt>
                <c:pt idx="2">
                  <c:v>Logistic Reg.</c:v>
                </c:pt>
                <c:pt idx="3">
                  <c:v>SVM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0.70350000000000001</c:v>
                </c:pt>
                <c:pt idx="1">
                  <c:v>0.65160000000000018</c:v>
                </c:pt>
                <c:pt idx="2">
                  <c:v>4.1000000000000012E-3</c:v>
                </c:pt>
                <c:pt idx="3">
                  <c:v>4.1000000000000012E-3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E65100"/>
            </a:solidFill>
            <a:effectLst/>
          </c:spPr>
          <c:cat>
            <c:strRef>
              <c:f>Sheet1!$A$2:$A$5</c:f>
              <c:strCache>
                <c:ptCount val="4"/>
                <c:pt idx="0">
                  <c:v>Random Forest</c:v>
                </c:pt>
                <c:pt idx="1">
                  <c:v>MLP Classifier</c:v>
                </c:pt>
                <c:pt idx="2">
                  <c:v>Logistic Reg.</c:v>
                </c:pt>
                <c:pt idx="3">
                  <c:v>SVM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0.79800000000000004</c:v>
                </c:pt>
                <c:pt idx="1">
                  <c:v>0.50049999999999994</c:v>
                </c:pt>
                <c:pt idx="2">
                  <c:v>0.49870000000000003</c:v>
                </c:pt>
                <c:pt idx="3">
                  <c:v>0.49730000000000008</c:v>
                </c:pt>
              </c:numCache>
            </c:numRef>
          </c:val>
        </c:ser>
        <c:dLbls/>
        <c:axId val="119693312"/>
        <c:axId val="119694848"/>
      </c:barChart>
      <c:catAx>
        <c:axId val="11969331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F9"/>
                </a:solidFill>
                <a:latin typeface="Arial"/>
              </a:defRPr>
            </a:pPr>
            <a:endParaRPr lang="fr-FR"/>
          </a:p>
        </c:txPr>
        <c:crossAx val="119694848"/>
        <c:crosses val="autoZero"/>
        <c:auto val="1"/>
        <c:lblAlgn val="ctr"/>
        <c:lblOffset val="100"/>
        <c:noMultiLvlLbl val="1"/>
      </c:catAx>
      <c:valAx>
        <c:axId val="119694848"/>
        <c:scaling>
          <c:orientation val="minMax"/>
          <c:max val="1"/>
          <c:min val="0"/>
        </c:scaling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CAF9"/>
                </a:solidFill>
                <a:latin typeface="Arial"/>
              </a:defRPr>
            </a:pPr>
            <a:endParaRPr lang="fr-FR"/>
          </a:p>
        </c:txPr>
        <c:crossAx val="119693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</c:legend>
    <c:plotVisOnly val="1"/>
    <c:dispBlanksAs val="span"/>
  </c:chart>
  <c:spPr>
    <a:solidFill>
      <a:srgbClr val="0D1F30"/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48640"/>
            <a:ext cx="1280160" cy="128016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</a:rPr>
              <a:t>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Risque de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 Cardiaque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 de bout en bout avec Application Web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84048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CAF9"/>
                </a:solidFill>
              </a:rPr>
              <a:t>Python 3.12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384048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CAF9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384048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CAF9"/>
                </a:solidFill>
              </a:rPr>
              <a:t>TensorFlow/Keras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384048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CAF9"/>
                </a:solidFill>
              </a:rPr>
              <a:t>Flask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0CAF9"/>
                </a:solidFill>
              </a:rPr>
              <a:t>Syrine Dammak  ·  1ère année Master  ·  ENIS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Projet ML — Classification Supervisée  |  10 000 patients, 29 features cliniques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Contexte et Problématique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2011680"/>
          </a:xfrm>
          <a:prstGeom prst="rect">
            <a:avLst/>
          </a:prstGeom>
          <a:solidFill>
            <a:srgbClr val="E539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#1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Cause de mortalité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mondiale (OMS)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5577840" cy="114300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005840"/>
            <a:ext cx="73152" cy="11430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0698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🎯  Objectif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141732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Développer un système de prédiction automatique du risque de maladie cardiaque à partir de données cliniques patients.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286000"/>
            <a:ext cx="5577840" cy="114300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286000"/>
            <a:ext cx="73152" cy="11430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3500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🔬  Approche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69748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Pipeline ML complet : preprocessing → feature engineering → entraînement → évaluation → déploiement.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3566160"/>
            <a:ext cx="5577840" cy="114300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3566160"/>
            <a:ext cx="73152" cy="11430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36301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📊  Comparaison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397764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4</a:t>
            </a:r>
            <a:r>
              <a:rPr lang="en-US" sz="1100" dirty="0" smtClean="0">
                <a:solidFill>
                  <a:srgbClr val="546E7A"/>
                </a:solidFill>
              </a:rPr>
              <a:t> </a:t>
            </a:r>
            <a:r>
              <a:rPr lang="en-US" sz="1100" dirty="0">
                <a:solidFill>
                  <a:srgbClr val="546E7A"/>
                </a:solidFill>
              </a:rPr>
              <a:t>modèles de classification comparés avec validation croisée stratifiée (5 folds), métrique ROC-AUC.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Description du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10515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10 000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Patients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10515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Features cliniques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1920240" cy="1051560"/>
          </a:xfrm>
          <a:prstGeom prst="rect">
            <a:avLst/>
          </a:prstGeom>
          <a:solidFill>
            <a:srgbClr val="00897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51.7%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Sains (classe 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20240" cy="1051560"/>
          </a:xfrm>
          <a:prstGeom prst="rect">
            <a:avLst/>
          </a:prstGeom>
          <a:solidFill>
            <a:srgbClr val="E539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48.3%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Malades (classe 1)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320040" y="2148840"/>
          <a:ext cx="8503920" cy="2743202"/>
        </p:xfrm>
        <a:graphic>
          <a:graphicData uri="http://schemas.openxmlformats.org/drawingml/2006/table">
            <a:tbl>
              <a:tblPr/>
              <a:tblGrid>
                <a:gridCol w="2011680"/>
                <a:gridCol w="6492240"/>
              </a:tblGrid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Catégorie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Démographiques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age, gender, height_cm, weight_kg, bmi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Signes vitaux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systolic_bp, diastolic_bp, resting_heart_rate, oxygen_saturation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Bilan sanguin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glucose, insulin, total_cholesterol, hdl, ldl, triglycerides, hemoglobin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Mode de vie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smoking_status, alcohol_consumption, physical_activity_level, sleep_hours, stress_level, diet_quality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Antécédents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diabetes, hypertension, family_history_heart_disease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Scores de risque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46E7A"/>
                          </a:solidFill>
                        </a:rPr>
                        <a:t>cardiac_risk_score, metabolic_syndrome_score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3935"/>
                </a:solidFill>
              </a:rPr>
              <a:t>⚠ Valeurs manquantes : 2 007 imputées par KNN Imputer (k=5)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|  Architecture du Pipeline ML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234440" cy="1417320"/>
          </a:xfrm>
          <a:prstGeom prst="rect">
            <a:avLst/>
          </a:prstGeom>
          <a:solidFill>
            <a:srgbClr val="3747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Données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Brutes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892808"/>
            <a:ext cx="12344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9202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10 000 × 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08760" y="1801368"/>
            <a:ext cx="201168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9" name="Shape 7"/>
          <p:cNvSpPr/>
          <p:nvPr/>
        </p:nvSpPr>
        <p:spPr>
          <a:xfrm>
            <a:off x="1709928" y="1188720"/>
            <a:ext cx="1234440" cy="141732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09928" y="12344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processing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09928" y="1892808"/>
            <a:ext cx="12344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09928" y="19202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Nettoyage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Scaling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44368" y="1801368"/>
            <a:ext cx="201168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4" name="Shape 12"/>
          <p:cNvSpPr/>
          <p:nvPr/>
        </p:nvSpPr>
        <p:spPr>
          <a:xfrm>
            <a:off x="3145536" y="1188720"/>
            <a:ext cx="1234440" cy="1417320"/>
          </a:xfrm>
          <a:prstGeom prst="rect">
            <a:avLst/>
          </a:prstGeom>
          <a:solidFill>
            <a:srgbClr val="6A1B9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45536" y="12344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Engineering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45536" y="1892808"/>
            <a:ext cx="12344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145536" y="19202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20 features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+ AE/PCA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79976" y="1801368"/>
            <a:ext cx="201168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81144" y="1188720"/>
            <a:ext cx="1234440" cy="1417320"/>
          </a:xfrm>
          <a:prstGeom prst="rect">
            <a:avLst/>
          </a:prstGeom>
          <a:solidFill>
            <a:srgbClr val="AD145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81144" y="12344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Entraîne-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81144" y="1892808"/>
            <a:ext cx="12344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81144" y="19202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4 Modèles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CV 5-folds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15584" y="1801368"/>
            <a:ext cx="201168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4" name="Shape 22"/>
          <p:cNvSpPr/>
          <p:nvPr/>
        </p:nvSpPr>
        <p:spPr>
          <a:xfrm>
            <a:off x="6016752" y="1188720"/>
            <a:ext cx="1234440" cy="1417320"/>
          </a:xfrm>
          <a:prstGeom prst="rect">
            <a:avLst/>
          </a:prstGeom>
          <a:solidFill>
            <a:srgbClr val="00897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16752" y="12344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Évaluation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16752" y="1892808"/>
            <a:ext cx="12344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016752" y="19202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ROC-AUC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F1-Score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51192" y="1801368"/>
            <a:ext cx="201168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9" name="Shape 27"/>
          <p:cNvSpPr/>
          <p:nvPr/>
        </p:nvSpPr>
        <p:spPr>
          <a:xfrm>
            <a:off x="7452360" y="1188720"/>
            <a:ext cx="1234440" cy="1417320"/>
          </a:xfrm>
          <a:prstGeom prst="rect">
            <a:avLst/>
          </a:prstGeom>
          <a:solidFill>
            <a:srgbClr val="E651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52360" y="12344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Déploiement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Flask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52360" y="1892808"/>
            <a:ext cx="123444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452360" y="19202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API REST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Prédictions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926080"/>
            <a:ext cx="2011680" cy="1965960"/>
          </a:xfrm>
          <a:prstGeom prst="rect">
            <a:avLst/>
          </a:prstGeom>
          <a:solidFill>
            <a:srgbClr val="0D1F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926080"/>
            <a:ext cx="201168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2926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33756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Suppression doublons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Outliers (IQR×3)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KNN Imputer k=5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RobustScaler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Split 80/20 stratifié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68880" y="2926080"/>
            <a:ext cx="2011680" cy="1965960"/>
          </a:xfrm>
          <a:prstGeom prst="rect">
            <a:avLst/>
          </a:prstGeom>
          <a:solidFill>
            <a:srgbClr val="0D1F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468880" y="2926080"/>
            <a:ext cx="2011680" cy="3474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9" name="Text 37"/>
          <p:cNvSpPr/>
          <p:nvPr/>
        </p:nvSpPr>
        <p:spPr>
          <a:xfrm>
            <a:off x="2468880" y="2926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60320" y="333756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Pression artérielle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Profil lipidique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IMC &amp; Âge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Métabolique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Autoencodeur 16D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2926080"/>
            <a:ext cx="2011680" cy="1965960"/>
          </a:xfrm>
          <a:prstGeom prst="rect">
            <a:avLst/>
          </a:prstGeom>
          <a:solidFill>
            <a:srgbClr val="0D1F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2926080"/>
            <a:ext cx="2011680" cy="347472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2926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Modèles comparés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54880" y="333756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Logistic Regression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Random Forest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SVM (RBF)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MLP Classifier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58000" y="2926080"/>
            <a:ext cx="2011680" cy="1965960"/>
          </a:xfrm>
          <a:prstGeom prst="rect">
            <a:avLst/>
          </a:prstGeom>
          <a:solidFill>
            <a:srgbClr val="0D1F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58000" y="2926080"/>
            <a:ext cx="2011680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0" y="2926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Déploiement Web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49440" y="333756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Interface formulaire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Prédiction temps réel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API REST /predict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→  Health check /health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|  Étape 1 :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1887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11887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Suppression 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362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</a:rPr>
              <a:t>drop_id_column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6367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Colonne patient_id non prédictive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206240" cy="11887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11887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14300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23560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Doublons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1362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</a:rPr>
              <a:t>drop_duplicates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23560" y="16367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0 doublon détecté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286000"/>
            <a:ext cx="4206240" cy="11887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286000"/>
            <a:ext cx="73152" cy="11887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46888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2377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Outliers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2688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</a:rPr>
              <a:t>IQR × 3.0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29626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1 502 valeurs ajustées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4206240" cy="11887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73152" cy="11887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246888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23560" y="2377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Valeurs manquantes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23560" y="2688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</a:rPr>
              <a:t>KNN Imputer (k=5)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23560" y="29626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2 007 → 0 valeurs manquantes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611880"/>
            <a:ext cx="4206240" cy="11887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611880"/>
            <a:ext cx="73152" cy="11887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" y="379476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88720" y="3703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Scaling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88720" y="4014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</a:rPr>
              <a:t>RobustScaler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88720" y="428853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Robuste aux outliers (médiane + IQR)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611880"/>
            <a:ext cx="4206240" cy="11887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611880"/>
            <a:ext cx="73152" cy="11887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1" name="Shape 39"/>
          <p:cNvSpPr/>
          <p:nvPr/>
        </p:nvSpPr>
        <p:spPr>
          <a:xfrm>
            <a:off x="4937760" y="379476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✂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623560" y="3703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Split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23560" y="4014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</a:rPr>
              <a:t>80/20 stratifié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23560" y="428853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8 000 train / 2 000 test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|  Étape 2 : 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486400" cy="731520"/>
          </a:xfrm>
          <a:prstGeom prst="rect">
            <a:avLst/>
          </a:prstGeom>
          <a:solidFill>
            <a:srgbClr val="F3E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7315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🫀  Pression artérielle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pulse_pressure, MAP, bp_category, systolic_bp_sq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5486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83080"/>
            <a:ext cx="73152" cy="7315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🩸  Profil lipidique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30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cholesterol_ratio, ldl_hdl_ratio, non_hdl, triglyceride_hdl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606040"/>
            <a:ext cx="5486400" cy="731520"/>
          </a:xfrm>
          <a:prstGeom prst="rect">
            <a:avLst/>
          </a:prstGeom>
          <a:solidFill>
            <a:srgbClr val="F3E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606040"/>
            <a:ext cx="73152" cy="7315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51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⚖  IMC &amp; Âge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9535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bmi_category, bmi_sq, age_decade, age_squared, age_bmi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429000"/>
            <a:ext cx="5486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29000"/>
            <a:ext cx="73152" cy="7315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74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🔬  Métabolique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764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glucose_insulin_ratio, insulin_resistance_idx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251960"/>
            <a:ext cx="5486400" cy="731520"/>
          </a:xfrm>
          <a:prstGeom prst="rect">
            <a:avLst/>
          </a:prstGeom>
          <a:solidFill>
            <a:srgbClr val="F3E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251960"/>
            <a:ext cx="73152" cy="7315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⚡  Risque composite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5994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cardiovascular_index, lifestyle_score, comorbidity_count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960120"/>
            <a:ext cx="2743200" cy="40690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Résumé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1508760"/>
            <a:ext cx="2468880" cy="77724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72200" y="15270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0CAF9"/>
                </a:solidFill>
              </a:rPr>
              <a:t>28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172200" y="192024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Features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originales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2423160"/>
            <a:ext cx="2468880" cy="77724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72200" y="2441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0CAF9"/>
                </a:solidFill>
              </a:rPr>
              <a:t>20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172200" y="283464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Features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ingénierie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3337560"/>
            <a:ext cx="2468880" cy="77724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72200" y="33558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0CAF9"/>
                </a:solidFill>
              </a:rPr>
              <a:t>16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172200" y="374904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Features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latentes (AE/PCA)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72200" y="4251960"/>
            <a:ext cx="2468880" cy="777240"/>
          </a:xfrm>
          <a:prstGeom prst="rect">
            <a:avLst/>
          </a:prstGeom>
          <a:solidFill>
            <a:srgbClr val="E539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172200" y="42702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64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172200" y="466344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Features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</a:rPr>
              <a:t>totales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A1B9A"/>
                </a:solidFill>
              </a:rPr>
              <a:t>Autoencodeur : Input → 128 → 64 → 32 → 16 → 32 → 64 → 128 → Input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6A1B9A"/>
                </a:solidFill>
              </a:rPr>
              <a:t>Fallback : PCA (16 composantes) si TensorFlow absent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|  Étape 3 : Modèles Entraînés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Logistic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Modèle linéaire de référence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947672"/>
            <a:ext cx="3977640" cy="3657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0299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⚙ max_iter=1000, régularisation L2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20624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🌲  Random Forest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Ensemble de 200 arbres de décision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947672"/>
            <a:ext cx="3977640" cy="3657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0299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</a:rPr>
              <a:t>⚙ n_estimators=200, class_weight=balanced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4206240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SVM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383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Support Vector Machine, noyau RBF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822192"/>
            <a:ext cx="3977640" cy="3657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90448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5100"/>
                </a:solidFill>
              </a:rPr>
              <a:t>⚙ kernel=rbf, probability=True, calibration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34640"/>
            <a:ext cx="4206240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MLP Classifier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383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Réseau de neurones 3 couches cachées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822192"/>
            <a:ext cx="3977640" cy="3657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90448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1B9A"/>
                </a:solidFill>
              </a:rPr>
              <a:t>⚙ max_iter=500, activation=relu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5100"/>
                </a:solidFill>
              </a:rPr>
              <a:t>🏆  Sélection par validation croisée stratifiée 5-folds  ·  Métrique : ROC-AUC  ·  Meilleur modèle → models/best_model.pkl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|  Résultats : Comparaison des Modèles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77724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09728" cy="777240"/>
          </a:xfrm>
          <a:prstGeom prst="rect">
            <a:avLst/>
          </a:prstGeom>
          <a:solidFill>
            <a:srgbClr val="76FF0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F90"/>
                </a:solidFill>
              </a:rPr>
              <a:t>🏆  MEILLEUR MODÈLE  ·  Random Forest  ·  ROC-AUC : 0.798  ·  F1 : 0.704  ·  Accuracy : 71.55%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320040" y="1874520"/>
          <a:ext cx="8503920" cy="301752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005840"/>
                <a:gridCol w="1097280"/>
                <a:gridCol w="1188720"/>
                <a:gridCol w="914400"/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Temps (s)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CFF90"/>
                          </a:solidFill>
                        </a:rPr>
                        <a:t>🌲 Random Forest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6FF03"/>
                          </a:solidFill>
                        </a:rPr>
                        <a:t>0.7155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6FF03"/>
                          </a:solidFill>
                        </a:rPr>
                        <a:t>0.7083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6FF03"/>
                          </a:solidFill>
                        </a:rPr>
                        <a:t>0.6988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6FF03"/>
                          </a:solidFill>
                        </a:rPr>
                        <a:t>0.7035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6FF03"/>
                          </a:solidFill>
                        </a:rPr>
                        <a:t>0.7980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FF90"/>
                          </a:solidFill>
                        </a:rPr>
                        <a:t>8.82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🧠 MLP Classifier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0.4835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0.4832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D740"/>
                          </a:solidFill>
                        </a:rPr>
                        <a:t>1.0000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0.6516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0.5005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0.41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📈 Logistic Reg.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0.5180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D740"/>
                          </a:solidFill>
                        </a:rPr>
                        <a:t>1.0000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53935"/>
                          </a:solidFill>
                        </a:rPr>
                        <a:t>0.0021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53935"/>
                          </a:solidFill>
                        </a:rPr>
                        <a:t>0.0041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0.4987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0.05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⚡ SVM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0.5180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D740"/>
                          </a:solidFill>
                        </a:rPr>
                        <a:t>1.0000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53935"/>
                          </a:solidFill>
                        </a:rPr>
                        <a:t>0.0021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53935"/>
                          </a:solidFill>
                        </a:rPr>
                        <a:t>0.0041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0.4973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13.84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 |  Visualisations : Courbes ROC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91440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05840"/>
            <a:ext cx="2926080" cy="8229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1005840"/>
            <a:ext cx="73152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1051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🌲 Random Forest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1417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AUC: 0.798  ·  Meilleur modèle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1965960"/>
            <a:ext cx="2926080" cy="8229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1965960"/>
            <a:ext cx="73152" cy="8229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2011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</a:rPr>
              <a:t>🧠 MLP Classifier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35040" y="2377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AUC: 0.501  ·  Recall parfait = biais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52160" y="2926080"/>
            <a:ext cx="2926080" cy="8229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2926080"/>
            <a:ext cx="73152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📈 Logistic Reg.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35040" y="3337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AUC: 0.499  ·  Recall quasi-nul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52160" y="3886200"/>
            <a:ext cx="2926080" cy="8229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3886200"/>
            <a:ext cx="73152" cy="8229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⚡ SVM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35040" y="4297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AUC: 0.497  ·  Performances faibles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53935"/>
                </a:solidFill>
              </a:rPr>
              <a:t>⚠ Random Forest domine nettement — les autres modèles sont proches du hasard (AUC ≈ 0.5)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  |  Visualisations : Matrices de Confusion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8745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1143000" cy="56692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720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74520" y="1417320"/>
            <a:ext cx="1143000" cy="5669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141732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294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057400"/>
            <a:ext cx="1143000" cy="5669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05740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274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4520" y="2057400"/>
            <a:ext cx="1143000" cy="56692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1874520" y="205740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130759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Prédit: 0  /  Prédit: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5468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Acc: 71.6%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4206240" cy="18745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960120"/>
            <a:ext cx="4206240" cy="3474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9601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MLP Classifier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1417320"/>
            <a:ext cx="1143000" cy="56692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41732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417320"/>
            <a:ext cx="1143000" cy="5669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41732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966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2057400"/>
            <a:ext cx="1143000" cy="5669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05740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2057400"/>
            <a:ext cx="1143000" cy="56692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05740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1034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130759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Prédit: 0  /  Prédit: 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58952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A1B9A"/>
                </a:solidFill>
              </a:rPr>
              <a:t>Acc: 51.7%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2971800"/>
            <a:ext cx="4206240" cy="18745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2971800"/>
            <a:ext cx="420624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29718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Logistic Reg.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" y="3429000"/>
            <a:ext cx="1143000" cy="56692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42900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1034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874520" y="3429000"/>
            <a:ext cx="1143000" cy="5669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6" name="Text 34"/>
          <p:cNvSpPr/>
          <p:nvPr/>
        </p:nvSpPr>
        <p:spPr>
          <a:xfrm>
            <a:off x="1874520" y="342900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4360" y="4069080"/>
            <a:ext cx="1143000" cy="5669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40690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962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874520" y="4069080"/>
            <a:ext cx="1143000" cy="56692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0" name="Text 38"/>
          <p:cNvSpPr/>
          <p:nvPr/>
        </p:nvSpPr>
        <p:spPr>
          <a:xfrm>
            <a:off x="1874520" y="40690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4360" y="331927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Prédit: 0  /  Prédit: 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154680" y="3611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Acc: 51.9%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2971800"/>
            <a:ext cx="4206240" cy="187452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2971800"/>
            <a:ext cx="4206240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29718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SVM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29200" y="3429000"/>
            <a:ext cx="1143000" cy="56692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342900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1033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309360" y="3429000"/>
            <a:ext cx="1143000" cy="5669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9" name="Text 47"/>
          <p:cNvSpPr/>
          <p:nvPr/>
        </p:nvSpPr>
        <p:spPr>
          <a:xfrm>
            <a:off x="6309360" y="342900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029200" y="4069080"/>
            <a:ext cx="1143000" cy="5669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0" y="40690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962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309360" y="4069080"/>
            <a:ext cx="1143000" cy="56692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3" name="Text 51"/>
          <p:cNvSpPr/>
          <p:nvPr/>
        </p:nvSpPr>
        <p:spPr>
          <a:xfrm>
            <a:off x="6309360" y="40690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29200" y="331927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Prédit: 0  /  Prédit: 1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589520" y="3611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</a:rPr>
              <a:t>Acc: 51.8%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11  |  Feature Importance : Random Forest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914400"/>
          <a:ext cx="59436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960120"/>
            <a:ext cx="2377440" cy="1188720"/>
          </a:xfrm>
          <a:prstGeom prst="rect">
            <a:avLst/>
          </a:prstGeom>
          <a:solidFill>
            <a:srgbClr val="F1F8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10332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🎯  Scores de risque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39903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cardiac_risk_score et metabolic_syndrome_score dominent à eux seuls ~30% de l'importance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00800" y="2286000"/>
            <a:ext cx="2377440" cy="118872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23591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📐  Features ingéniérées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7249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cardiovascular_index (feature créée) est 3ème — validation du feature engineering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00800" y="3611880"/>
            <a:ext cx="2377440" cy="1188720"/>
          </a:xfrm>
          <a:prstGeom prst="rect">
            <a:avLst/>
          </a:prstGeom>
          <a:solidFill>
            <a:srgbClr val="F1F8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36850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📅  Âge &amp; IMC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405079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Les transformations quadratiques (age_sq, bmi_sq) capturent des effets non-linéaires clés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12  |  Comparaison Globale des Métriques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83210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13  |  Application Web Flask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0" cy="640080"/>
          </a:xfrm>
          <a:prstGeom prst="ellipse">
            <a:avLst/>
          </a:prstGeom>
          <a:solidFill>
            <a:srgbClr val="FBE9E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0515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Formulaire interactif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Saisie complète des features cliniques du patient avec validation des champs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143000"/>
            <a:ext cx="640080" cy="640080"/>
          </a:xfrm>
          <a:prstGeom prst="ellipse">
            <a:avLst/>
          </a:prstGeom>
          <a:solidFill>
            <a:srgbClr val="FBE9E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0" y="10515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Prédiction instantanée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1417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Probabilité + niveau de risque affichés en temps réel après soumission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68880"/>
            <a:ext cx="640080" cy="640080"/>
          </a:xfrm>
          <a:prstGeom prst="ellipse">
            <a:avLst/>
          </a:prstGeom>
          <a:solidFill>
            <a:srgbClr val="FBE9E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2377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Calcul BMI auto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BMI calculé automatiquement à partir de la taille et du poids saisis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468880"/>
            <a:ext cx="640080" cy="640080"/>
          </a:xfrm>
          <a:prstGeom prst="ellipse">
            <a:avLst/>
          </a:prstGeom>
          <a:solidFill>
            <a:srgbClr val="FBE9E7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0" y="2377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API REST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Endpoint /api/predict pour intégration programmatique externe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3566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Niveaux de risque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320040" y="3931920"/>
          <a:ext cx="4206240" cy="11430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Probabilité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Niveau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&lt; 30%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🟢 Faible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7F17"/>
                          </a:solidFill>
                        </a:rPr>
                        <a:t>30% – 50%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7F17"/>
                          </a:solidFill>
                        </a:rPr>
                        <a:t>🟡 Modéré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5100"/>
                          </a:solidFill>
                        </a:rPr>
                        <a:t>50% – 70%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</a:rPr>
                        <a:t>🟠 Élevé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&gt; 70%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71C1C"/>
                          </a:solidFill>
                        </a:rPr>
                        <a:t>🔴 Très élevé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754880" y="3566160"/>
            <a:ext cx="4023360" cy="15087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846320" y="3611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$ Lancement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46320" y="39136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app/app.py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846320" y="43159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http://localhost:5000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14  |  Structure du Projet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7373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📁  data/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raw/  — Dataset original (CSV)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processed/  — Données nettoyées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train_test/  — Splits train/test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73736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2062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models/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35608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best_model.pkl  — Modèle sélectionné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preprocessor.pkl  — Pipeline de preprocessing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206240" cy="182880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80360"/>
            <a:ext cx="42062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880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  src/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355848"/>
            <a:ext cx="388620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preprocessing.py  — Nettoyage, imputation, scaling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feature_engineering.py  — Features cliniques + Autoencodeur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train_model.py  — Entraînement et sélection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evaluate_model.py  — Métriques et visualisations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predict.py  — Pipeline d'inférence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206240" cy="182880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42062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880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app/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355848"/>
            <a:ext cx="388620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 — Application web Flask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/api/predict  — Endpoint REST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15  |  Conclusion &amp; Perspectives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CAF9"/>
                </a:solidFill>
              </a:rPr>
              <a:t>Résultats Clés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4206240" cy="566928"/>
          </a:xfrm>
          <a:prstGeom prst="rect">
            <a:avLst/>
          </a:prstGeom>
          <a:solidFill>
            <a:srgbClr val="0D1F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173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✅  Pipeline ML complet et modulaire, de la donnée brute au déploiement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048256"/>
            <a:ext cx="4206240" cy="566928"/>
          </a:xfrm>
          <a:prstGeom prst="rect">
            <a:avLst/>
          </a:prstGeom>
          <a:solidFill>
            <a:srgbClr val="0D1F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07568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🌲  Random Forest : meilleur modèle — AUC = 0.80, F1 = 0.70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706624"/>
            <a:ext cx="4206240" cy="566928"/>
          </a:xfrm>
          <a:prstGeom prst="rect">
            <a:avLst/>
          </a:prstGeom>
          <a:solidFill>
            <a:srgbClr val="0D1F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73405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🔬  Feature engineering avancé : 20 features cliniques + 16 latentes (AE/PCA)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364992"/>
            <a:ext cx="4206240" cy="566928"/>
          </a:xfrm>
          <a:prstGeom prst="rect">
            <a:avLst/>
          </a:prstGeom>
          <a:solidFill>
            <a:srgbClr val="0D1F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39242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🌐  Application Flask pour prédictions en temps réel + API REST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CAF9"/>
                </a:solidFill>
              </a:rPr>
              <a:t>Améliorations Possibles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1389888"/>
            <a:ext cx="4023360" cy="566928"/>
          </a:xfrm>
          <a:prstGeom prst="rect">
            <a:avLst/>
          </a:prstGeom>
          <a:solidFill>
            <a:srgbClr val="0D1F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417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🚀  XGBoost + TensorFlow (gradient boosting + vrai AE)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048256"/>
            <a:ext cx="4023360" cy="566928"/>
          </a:xfrm>
          <a:prstGeom prst="rect">
            <a:avLst/>
          </a:prstGeom>
          <a:solidFill>
            <a:srgbClr val="0D1F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075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🔧  Hyperparameter tuning (GridSearch / Optuna)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706624"/>
            <a:ext cx="4023360" cy="566928"/>
          </a:xfrm>
          <a:prstGeom prst="rect">
            <a:avLst/>
          </a:prstGeom>
          <a:solidFill>
            <a:srgbClr val="0D1F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73405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⚖  SMOTE pour déséquilibre de classes éventuel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364992"/>
            <a:ext cx="4023360" cy="566928"/>
          </a:xfrm>
          <a:prstGeom prst="rect">
            <a:avLst/>
          </a:prstGeom>
          <a:solidFill>
            <a:srgbClr val="0D1F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39242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🐳  Déploiement Docker + CI/CD en production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4023360"/>
            <a:ext cx="4023360" cy="566928"/>
          </a:xfrm>
          <a:prstGeom prst="rect">
            <a:avLst/>
          </a:prstGeom>
          <a:solidFill>
            <a:srgbClr val="0D1F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40507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🔍  Interprétabilité SHAP / LIME pour explicabilité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709160"/>
            <a:ext cx="850392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3.12  ·  scikit-learn  ·  TensorFlow/Keras  ·  Flask  ·  Matplotlib  ·  Seaborn  ·  Joblib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1164</Words>
  <Application>Microsoft Office PowerPoint</Application>
  <PresentationFormat>Affichage à l'écran (16:9)</PresentationFormat>
  <Paragraphs>329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Office Theme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du Risque de Maladie Cardiaque</dc:title>
  <dc:subject>PptxGenJS Presentation</dc:subject>
  <dc:creator>PptxGenJS</dc:creator>
  <cp:lastModifiedBy>LENOVO</cp:lastModifiedBy>
  <cp:revision>2</cp:revision>
  <dcterms:created xsi:type="dcterms:W3CDTF">2026-05-31T11:54:40Z</dcterms:created>
  <dcterms:modified xsi:type="dcterms:W3CDTF">2026-05-31T12:16:30Z</dcterms:modified>
</cp:coreProperties>
</file>